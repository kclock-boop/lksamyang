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3f70b93e2c14dda" /><Relationship Type="http://schemas.openxmlformats.org/officeDocument/2006/relationships/extended-properties" Target="/docProps/app.xml" Id="R3475863ee3e04a08" /><Relationship Type="http://schemas.openxmlformats.org/officeDocument/2006/relationships/officeDocument" Target="/ppt/presentation.xml" Id="R02c0c40c9da54fc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76e1f8b0de34a93"/>
  </p:sldMasterIdLst>
  <p:notesMasterIdLst>
    <p:notesMasterId xmlns:r="http://schemas.openxmlformats.org/officeDocument/2006/relationships" r:id="R4afbade82dc242bc"/>
  </p:notesMasterIdLst>
  <p:sldIdLst>
    <p:sldId xmlns:r="http://schemas.openxmlformats.org/officeDocument/2006/relationships" id="256" r:id="R9c36305f4497430c"/>
    <p:sldId xmlns:r="http://schemas.openxmlformats.org/officeDocument/2006/relationships" id="257" r:id="R37bd15dc8a15432f"/>
    <p:sldId xmlns:r="http://schemas.openxmlformats.org/officeDocument/2006/relationships" id="258" r:id="R3eb0b1179001426a"/>
    <p:sldId xmlns:r="http://schemas.openxmlformats.org/officeDocument/2006/relationships" id="259" r:id="R09250e3ebf0140b7"/>
    <p:sldId xmlns:r="http://schemas.openxmlformats.org/officeDocument/2006/relationships" id="260" r:id="R173dd7aefa82444a"/>
    <p:sldId xmlns:r="http://schemas.openxmlformats.org/officeDocument/2006/relationships" id="261" r:id="R7afbffc39d5342cf"/>
    <p:sldId xmlns:r="http://schemas.openxmlformats.org/officeDocument/2006/relationships" id="262" r:id="Rc541de91226d4afc"/>
    <p:sldId xmlns:r="http://schemas.openxmlformats.org/officeDocument/2006/relationships" id="263" r:id="R043fcbddb509471d"/>
    <p:sldId xmlns:r="http://schemas.openxmlformats.org/officeDocument/2006/relationships" id="264" r:id="Ra283dcd0813f4123"/>
    <p:sldId xmlns:r="http://schemas.openxmlformats.org/officeDocument/2006/relationships" id="265" r:id="Ra840a8d8c9ef4142"/>
    <p:sldId xmlns:r="http://schemas.openxmlformats.org/officeDocument/2006/relationships" id="266" r:id="R16455a89cc99475b"/>
    <p:sldId xmlns:r="http://schemas.openxmlformats.org/officeDocument/2006/relationships" id="267" r:id="Rf555961a54b048e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43d1879d8f04e53" /><Relationship Type="http://schemas.openxmlformats.org/officeDocument/2006/relationships/slideMaster" Target="/ppt/slideMasters/slideMaster1.xml" Id="R076e1f8b0de34a93" /><Relationship Type="http://schemas.openxmlformats.org/officeDocument/2006/relationships/notesMaster" Target="/ppt/notesMasters/notesMaster1.xml" Id="R4afbade82dc242bc" /><Relationship Type="http://schemas.openxmlformats.org/officeDocument/2006/relationships/presProps" Target="/ppt/presProps.xml" Id="Re5a99c5b063e422e" /><Relationship Type="http://schemas.openxmlformats.org/officeDocument/2006/relationships/tableStyles" Target="/ppt/tableStyles.xml" Id="R5a70bc341be04ff4" /><Relationship Type="http://schemas.openxmlformats.org/officeDocument/2006/relationships/slide" Target="/ppt/slides/slide1.xml" Id="R9c36305f4497430c" /><Relationship Type="http://schemas.openxmlformats.org/officeDocument/2006/relationships/slide" Target="/ppt/slides/slide2.xml" Id="R37bd15dc8a15432f" /><Relationship Type="http://schemas.openxmlformats.org/officeDocument/2006/relationships/slide" Target="/ppt/slides/slide3.xml" Id="R3eb0b1179001426a" /><Relationship Type="http://schemas.openxmlformats.org/officeDocument/2006/relationships/slide" Target="/ppt/slides/slide4.xml" Id="R09250e3ebf0140b7" /><Relationship Type="http://schemas.openxmlformats.org/officeDocument/2006/relationships/slide" Target="/ppt/slides/slide5.xml" Id="R173dd7aefa82444a" /><Relationship Type="http://schemas.openxmlformats.org/officeDocument/2006/relationships/slide" Target="/ppt/slides/slide6.xml" Id="R7afbffc39d5342cf" /><Relationship Type="http://schemas.openxmlformats.org/officeDocument/2006/relationships/slide" Target="/ppt/slides/slide7.xml" Id="Rc541de91226d4afc" /><Relationship Type="http://schemas.openxmlformats.org/officeDocument/2006/relationships/slide" Target="/ppt/slides/slide8.xml" Id="R043fcbddb509471d" /><Relationship Type="http://schemas.openxmlformats.org/officeDocument/2006/relationships/slide" Target="/ppt/slides/slide9.xml" Id="Ra283dcd0813f4123" /><Relationship Type="http://schemas.openxmlformats.org/officeDocument/2006/relationships/slide" Target="/ppt/slides/slide10.xml" Id="Ra840a8d8c9ef4142" /><Relationship Type="http://schemas.openxmlformats.org/officeDocument/2006/relationships/slide" Target="/ppt/slides/slide11.xml" Id="R16455a89cc99475b" /><Relationship Type="http://schemas.openxmlformats.org/officeDocument/2006/relationships/slide" Target="/ppt/slides/slide12.xml" Id="Rf555961a54b048e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2b6c50a2bb9474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56e6fcdf70204828" /><Relationship Type="http://schemas.openxmlformats.org/officeDocument/2006/relationships/notesMaster" Target="/ppt/notesMasters/notesMaster1.xml" Id="R2f594b40abf148f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a40d2cfd617442c" /><Relationship Type="http://schemas.openxmlformats.org/officeDocument/2006/relationships/notesMaster" Target="/ppt/notesMasters/notesMaster1.xml" Id="R1218b764f57745b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d1e61e829f64c85" /><Relationship Type="http://schemas.openxmlformats.org/officeDocument/2006/relationships/notesMaster" Target="/ppt/notesMasters/notesMaster1.xml" Id="R3febd32a478241e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87e4259c49f4645" /><Relationship Type="http://schemas.openxmlformats.org/officeDocument/2006/relationships/notesMaster" Target="/ppt/notesMasters/notesMaster1.xml" Id="R5ca2f9bb6726447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8ed0007047d4f01" /><Relationship Type="http://schemas.openxmlformats.org/officeDocument/2006/relationships/notesMaster" Target="/ppt/notesMasters/notesMaster1.xml" Id="Rba8ef8cb7a344ce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3274fa2b15864fe7" /><Relationship Type="http://schemas.openxmlformats.org/officeDocument/2006/relationships/notesMaster" Target="/ppt/notesMasters/notesMaster1.xml" Id="R32e2fb3af1a8464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8406491e17848d4" /><Relationship Type="http://schemas.openxmlformats.org/officeDocument/2006/relationships/notesMaster" Target="/ppt/notesMasters/notesMaster1.xml" Id="Rf5ae00c539ad4d2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5579b84c0e8447b" /><Relationship Type="http://schemas.openxmlformats.org/officeDocument/2006/relationships/notesMaster" Target="/ppt/notesMasters/notesMaster1.xml" Id="R75fc995ca91a40e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b1adbf8ec9c4d28" /><Relationship Type="http://schemas.openxmlformats.org/officeDocument/2006/relationships/notesMaster" Target="/ppt/notesMasters/notesMaster1.xml" Id="R748391736d73419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4a3a84d9fa594407" /><Relationship Type="http://schemas.openxmlformats.org/officeDocument/2006/relationships/notesMaster" Target="/ppt/notesMasters/notesMaster1.xml" Id="Rf601abd8e18c41db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dbb04c2c08a44ad2" /><Relationship Type="http://schemas.openxmlformats.org/officeDocument/2006/relationships/notesMaster" Target="/ppt/notesMasters/notesMaster1.xml" Id="Rf2d17a5c222d48f9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447528d26d034da3" /><Relationship Type="http://schemas.openxmlformats.org/officeDocument/2006/relationships/notesMaster" Target="/ppt/notesMasters/notesMaster1.xml" Id="Rd7efbadfe5da403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LKsamyang AI 훈련로드맵 및</a:t>
            </a:r>
          </a:p>
          <a:p xmlns:a="http://schemas.openxmlformats.org/drawingml/2006/main">
            <a:r>
              <a:t>SOJT 기반 PBL 훈련프로그램 제안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https://www.lksamyang.com/ko/index.php</a:t>
            </a:r>
          </a:p>
          <a:p xmlns:a="http://schemas.openxmlformats.org/drawingml/2006/main">
            <a:r>
              <a:t>- https://www.lksamyang.com/ko/about/introduce.php</a:t>
            </a:r>
          </a:p>
          <a:p xmlns:a="http://schemas.openxmlformats.org/drawingml/2006/main">
            <a:r>
              <a:t>- https://biz.lksamyang.com/ko/</a:t>
            </a:r>
          </a:p>
          <a:p xmlns:a="http://schemas.openxmlformats.org/drawingml/2006/main">
            <a:r>
              <a:t>- https://biz.lksamyang.com/ko/about.php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왜 지금 AI 훈련이 필요한가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https://www.lksamyang.com/ko/index.php</a:t>
            </a:r>
          </a:p>
          <a:p xmlns:a="http://schemas.openxmlformats.org/drawingml/2006/main">
            <a:r>
              <a:t>- https://www.lksamyang.com/ko/about/introduce.php</a:t>
            </a:r>
          </a:p>
          <a:p xmlns:a="http://schemas.openxmlformats.org/drawingml/2006/main">
            <a:r>
              <a:t>- https://biz.lksamyang.com/ko/</a:t>
            </a:r>
          </a:p>
          <a:p xmlns:a="http://schemas.openxmlformats.org/drawingml/2006/main">
            <a:r>
              <a:t>- https://biz.lksamyang.com/ko/about.php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AI 훈련의 목표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https://www.lksamyang.com/ko/index.php</a:t>
            </a:r>
          </a:p>
          <a:p xmlns:a="http://schemas.openxmlformats.org/drawingml/2006/main">
            <a:r>
              <a:t>- https://www.lksamyang.com/ko/about/introduce.php</a:t>
            </a:r>
          </a:p>
          <a:p xmlns:a="http://schemas.openxmlformats.org/drawingml/2006/main">
            <a:r>
              <a:t>- https://biz.lksamyang.com/ko/</a:t>
            </a:r>
          </a:p>
          <a:p xmlns:a="http://schemas.openxmlformats.org/drawingml/2006/main">
            <a:r>
              <a:t>- https://biz.lksamyang.com/ko/about.php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운영 방향과 설계 원칙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https://www.lksamyang.com/ko/index.php</a:t>
            </a:r>
          </a:p>
          <a:p xmlns:a="http://schemas.openxmlformats.org/drawingml/2006/main">
            <a:r>
              <a:t>- https://www.lksamyang.com/ko/about/introduce.php</a:t>
            </a:r>
          </a:p>
          <a:p xmlns:a="http://schemas.openxmlformats.org/drawingml/2006/main">
            <a:r>
              <a:t>- https://biz.lksamyang.com/ko/</a:t>
            </a:r>
          </a:p>
          <a:p xmlns:a="http://schemas.openxmlformats.org/drawingml/2006/main">
            <a:r>
              <a:t>- https://biz.lksamyang.com/ko/about.php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AI 훈련로드맵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https://www.lksamyang.com/ko/index.php</a:t>
            </a:r>
          </a:p>
          <a:p xmlns:a="http://schemas.openxmlformats.org/drawingml/2006/main">
            <a:r>
              <a:t>- https://www.lksamyang.com/ko/about/introduce.php</a:t>
            </a:r>
          </a:p>
          <a:p xmlns:a="http://schemas.openxmlformats.org/drawingml/2006/main">
            <a:r>
              <a:t>- https://biz.lksamyang.com/ko/</a:t>
            </a:r>
          </a:p>
          <a:p xmlns:a="http://schemas.openxmlformats.org/drawingml/2006/main">
            <a:r>
              <a:t>- https://biz.lksamyang.com/ko/about.php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단계별 실행 내용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https://www.lksamyang.com/ko/index.php</a:t>
            </a:r>
          </a:p>
          <a:p xmlns:a="http://schemas.openxmlformats.org/drawingml/2006/main">
            <a:r>
              <a:t>- https://www.lksamyang.com/ko/about/introduce.php</a:t>
            </a:r>
          </a:p>
          <a:p xmlns:a="http://schemas.openxmlformats.org/drawingml/2006/main">
            <a:r>
              <a:t>- https://biz.lksamyang.com/ko/</a:t>
            </a:r>
          </a:p>
          <a:p xmlns:a="http://schemas.openxmlformats.org/drawingml/2006/main">
            <a:r>
              <a:t>- https://biz.lksamyang.com/ko/about.php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왜 SOJT와 PBL을 결합하는가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https://www.lksamyang.com/ko/index.php</a:t>
            </a:r>
          </a:p>
          <a:p xmlns:a="http://schemas.openxmlformats.org/drawingml/2006/main">
            <a:r>
              <a:t>- https://www.lksamyang.com/ko/about/introduce.php</a:t>
            </a:r>
          </a:p>
          <a:p xmlns:a="http://schemas.openxmlformats.org/drawingml/2006/main">
            <a:r>
              <a:t>- https://biz.lksamyang.com/ko/</a:t>
            </a:r>
          </a:p>
          <a:p xmlns:a="http://schemas.openxmlformats.org/drawingml/2006/main">
            <a:r>
              <a:t>- https://biz.lksamyang.com/ko/about.php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PBL 기반 8주 운영안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https://www.lksamyang.com/ko/index.php</a:t>
            </a:r>
          </a:p>
          <a:p xmlns:a="http://schemas.openxmlformats.org/drawingml/2006/main">
            <a:r>
              <a:t>- https://www.lksamyang.com/ko/about/introduce.php</a:t>
            </a:r>
          </a:p>
          <a:p xmlns:a="http://schemas.openxmlformats.org/drawingml/2006/main">
            <a:r>
              <a:t>- https://biz.lksamyang.com/ko/</a:t>
            </a:r>
          </a:p>
          <a:p xmlns:a="http://schemas.openxmlformats.org/drawingml/2006/main">
            <a:r>
              <a:t>- https://biz.lksamyang.com/ko/about.php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부서별 AI 현업 과제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https://www.lksamyang.com/ko/index.php</a:t>
            </a:r>
          </a:p>
          <a:p xmlns:a="http://schemas.openxmlformats.org/drawingml/2006/main">
            <a:r>
              <a:t>- https://www.lksamyang.com/ko/about/introduce.php</a:t>
            </a:r>
          </a:p>
          <a:p xmlns:a="http://schemas.openxmlformats.org/drawingml/2006/main">
            <a:r>
              <a:t>- https://biz.lksamyang.com/ko/</a:t>
            </a:r>
          </a:p>
          <a:p xmlns:a="http://schemas.openxmlformats.org/drawingml/2006/main">
            <a:r>
              <a:t>- https://biz.lksamyang.com/ko/about.php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기대성과와 KPI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https://www.lksamyang.com/ko/index.php</a:t>
            </a:r>
          </a:p>
          <a:p xmlns:a="http://schemas.openxmlformats.org/drawingml/2006/main">
            <a:r>
              <a:t>- https://www.lksamyang.com/ko/about/introduce.php</a:t>
            </a:r>
          </a:p>
          <a:p xmlns:a="http://schemas.openxmlformats.org/drawingml/2006/main">
            <a:r>
              <a:t>- https://biz.lksamyang.com/ko/</a:t>
            </a:r>
          </a:p>
          <a:p xmlns:a="http://schemas.openxmlformats.org/drawingml/2006/main">
            <a:r>
              <a:t>- https://biz.lksamyang.com/ko/about.php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우선 추진안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https://www.lksamyang.com/ko/index.php</a:t>
            </a:r>
          </a:p>
          <a:p xmlns:a="http://schemas.openxmlformats.org/drawingml/2006/main">
            <a:r>
              <a:t>- https://www.lksamyang.com/ko/about/introduce.php</a:t>
            </a:r>
          </a:p>
          <a:p xmlns:a="http://schemas.openxmlformats.org/drawingml/2006/main">
            <a:r>
              <a:t>- https://biz.lksamyang.com/ko/</a:t>
            </a:r>
          </a:p>
          <a:p xmlns:a="http://schemas.openxmlformats.org/drawingml/2006/main">
            <a:r>
              <a:t>- https://biz.lksamyang.com/ko/about.php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결론 및 요청사항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https://www.lksamyang.com/ko/index.php</a:t>
            </a:r>
          </a:p>
          <a:p xmlns:a="http://schemas.openxmlformats.org/drawingml/2006/main">
            <a:r>
              <a:t>- https://www.lksamyang.com/ko/about/introduce.php</a:t>
            </a:r>
          </a:p>
          <a:p xmlns:a="http://schemas.openxmlformats.org/drawingml/2006/main">
            <a:r>
              <a:t>- https://biz.lksamyang.com/ko/</a:t>
            </a:r>
          </a:p>
          <a:p xmlns:a="http://schemas.openxmlformats.org/drawingml/2006/main">
            <a:r>
              <a:t>- https://biz.lksamyang.com/ko/about.php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ff892a92d034d3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5e1e2279b6e4005" /><Relationship Type="http://schemas.openxmlformats.org/officeDocument/2006/relationships/slideLayout" Target="/ppt/slideLayouts/slideLayout1.xml" Id="R7ebb50bc2848401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ebb50bc2848401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7bfe933ea347b0" /><Relationship Type="http://schemas.openxmlformats.org/officeDocument/2006/relationships/notesSlide" Target="/ppt/notesSlides/notesSlide1.xml" Id="Rd195e77e9caa4c0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9a1801465843ad" /><Relationship Type="http://schemas.openxmlformats.org/officeDocument/2006/relationships/notesSlide" Target="/ppt/notesSlides/notesSlide2.xml" Id="Rbaea88b20ae6462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298a3bbdc142cb" /><Relationship Type="http://schemas.openxmlformats.org/officeDocument/2006/relationships/notesSlide" Target="/ppt/notesSlides/notesSlide3.xml" Id="R8e20e727ffe94af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e8e26fa3bc46e9" /><Relationship Type="http://schemas.openxmlformats.org/officeDocument/2006/relationships/notesSlide" Target="/ppt/notesSlides/notesSlide4.xml" Id="R9b4b3dada892495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e0220439cf4097" /><Relationship Type="http://schemas.openxmlformats.org/officeDocument/2006/relationships/notesSlide" Target="/ppt/notesSlides/notesSlide5.xml" Id="R7b3d205164e44da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b9d691fe0f4426" /><Relationship Type="http://schemas.openxmlformats.org/officeDocument/2006/relationships/notesSlide" Target="/ppt/notesSlides/notesSlide6.xml" Id="R08d287a58cc9448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ba3ae4d6924edf" /><Relationship Type="http://schemas.openxmlformats.org/officeDocument/2006/relationships/notesSlide" Target="/ppt/notesSlides/notesSlide7.xml" Id="R86309f854d6f460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2e8a35a0e64b3a" /><Relationship Type="http://schemas.openxmlformats.org/officeDocument/2006/relationships/notesSlide" Target="/ppt/notesSlides/notesSlide8.xml" Id="R4cc508a910ea463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ad089e78fc4be7" /><Relationship Type="http://schemas.openxmlformats.org/officeDocument/2006/relationships/notesSlide" Target="/ppt/notesSlides/notesSlide9.xml" Id="Rf9101f32f579495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4df5f5c3d847b6" /><Relationship Type="http://schemas.openxmlformats.org/officeDocument/2006/relationships/notesSlide" Target="/ppt/notesSlides/notesSlide10.xml" Id="Rd40af2c4c2d14c3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bcd34e81ab45b5" /><Relationship Type="http://schemas.openxmlformats.org/officeDocument/2006/relationships/notesSlide" Target="/ppt/notesSlides/notesSlide11.xml" Id="R18f2ccc200d4497f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5fe47f1bdd14c6c" /><Relationship Type="http://schemas.openxmlformats.org/officeDocument/2006/relationships/notesSlide" Target="/ppt/notesSlides/notesSlide12.xml" Id="R7b434b1de12746a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887B790-7B9F-4A53-BA43-FD3C73DCB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24B660-3D85-4A13-81D8-769DE6EA9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57C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23B79A-46B1-4506-B7AE-40ACF1885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143000"/>
            <a:ext cx="8191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11827"/>
                </a:solidFill>
              </a:defRPr>
            </a:pPr>
            <a:r>
              <a:rPr sz="2850" b="1">
                <a:solidFill>
                  <a:srgbClr val="111827"/>
                </a:solidFill>
              </a:rPr>
              <a:t>LKsamyang AI 훈련로드맵 및</a:t>
            </a:r>
          </a:p>
          <a:p xmlns:a="http://schemas.openxmlformats.org/drawingml/2006/main">
            <a:pPr algn="l">
              <a:defRPr sz="2850" b="1">
                <a:solidFill>
                  <a:srgbClr val="111827"/>
                </a:solidFill>
              </a:defRPr>
            </a:pPr>
            <a:r>
              <a:rPr sz="2850" b="1">
                <a:solidFill>
                  <a:srgbClr val="111827"/>
                </a:solidFill>
              </a:rPr>
              <a:t>SOJT 기반 PBL 훈련프로그램 제안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59C499-4803-46F8-AE11-F52345DEA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57500"/>
            <a:ext cx="6096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457C5"/>
                </a:solidFill>
              </a:defRPr>
            </a:pPr>
            <a:r>
              <a:rPr sz="1650" b="1">
                <a:solidFill>
                  <a:srgbClr val="2457C5"/>
                </a:solidFill>
              </a:rPr>
              <a:t>현업 과제 해결형 AI 역량 내재화 방안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756DF3-AD6B-4DB6-8DB1-9B4B87B0B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914400"/>
            <a:ext cx="2381250" cy="2381250"/>
          </a:xfrm>
          <a:prstGeom xmlns:a="http://schemas.openxmlformats.org/drawingml/2006/main" prst="roundRect">
            <a:avLst>
              <a:gd name="adj" fmla="val 4800"/>
            </a:avLst>
          </a:prstGeom>
          <a:solidFill xmlns:a="http://schemas.openxmlformats.org/drawingml/2006/main">
            <a:srgbClr val="DCE8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E26E33D-A02B-4C23-9627-B2E954E119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1125" y="1619250"/>
            <a:ext cx="1714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11827"/>
                </a:solidFill>
              </a:defRPr>
            </a:pPr>
            <a:r>
              <a:rPr sz="2100" b="1">
                <a:solidFill>
                  <a:srgbClr val="111827"/>
                </a:solidFill>
              </a:rPr>
              <a:t>OPTICS</a:t>
            </a:r>
          </a:p>
          <a:p xmlns:a="http://schemas.openxmlformats.org/drawingml/2006/main">
            <a:pPr algn="ctr">
              <a:defRPr sz="2100" b="1">
                <a:solidFill>
                  <a:srgbClr val="111827"/>
                </a:solidFill>
              </a:defRPr>
            </a:pPr>
            <a:r>
              <a:rPr sz="2100" b="1">
                <a:solidFill>
                  <a:srgbClr val="111827"/>
                </a:solidFill>
              </a:rPr>
              <a:t>AI</a:t>
            </a:r>
          </a:p>
          <a:p xmlns:a="http://schemas.openxmlformats.org/drawingml/2006/main">
            <a:pPr algn="ctr">
              <a:defRPr sz="2100" b="1">
                <a:solidFill>
                  <a:srgbClr val="111827"/>
                </a:solidFill>
              </a:defRPr>
            </a:pPr>
            <a:r>
              <a:rPr sz="2100" b="1">
                <a:solidFill>
                  <a:srgbClr val="111827"/>
                </a:solidFill>
              </a:rPr>
              <a:t>ROADMAP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FE0640F-ED22-47AC-B8DB-8190C412B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334000"/>
            <a:ext cx="3810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B5563"/>
                </a:solidFill>
              </a:defRPr>
            </a:pPr>
            <a:r>
              <a:rPr sz="1350" b="0">
                <a:solidFill>
                  <a:srgbClr val="4B5563"/>
                </a:solidFill>
              </a:rPr>
              <a:t>2026.08</a:t>
            </a:r>
          </a:p>
          <a:p xmlns:a="http://schemas.openxmlformats.org/drawingml/2006/main">
            <a:pPr algn="l">
              <a:defRPr sz="1350" b="0">
                <a:solidFill>
                  <a:srgbClr val="4B5563"/>
                </a:solidFill>
              </a:defRPr>
            </a:pPr>
            <a:r>
              <a:rPr sz="1350" b="0">
                <a:solidFill>
                  <a:srgbClr val="4B5563"/>
                </a:solidFill>
              </a:rPr>
              <a:t>LKsamyang AI Training Proposal</a:t>
            </a:r>
          </a:p>
          <a:p xmlns:a="http://schemas.openxmlformats.org/drawingml/2006/main">
            <a:pPr algn="l">
              <a:defRPr sz="1350" b="0">
                <a:solidFill>
                  <a:srgbClr val="4B5563"/>
                </a:solidFill>
              </a:defRPr>
            </a:pPr>
            <a:r>
              <a:rPr sz="1350" b="0">
                <a:solidFill>
                  <a:srgbClr val="4B5563"/>
                </a:solidFill>
              </a:rPr>
              <a:t>발표자명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9444348-757C-4ABB-99AC-A8114818F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B5563"/>
                </a:solidFill>
              </a:defRPr>
            </a:pPr>
            <a:r>
              <a:rPr sz="900" b="0">
                <a:solidFill>
                  <a:srgbClr val="4B5563"/>
                </a:solidFill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91687211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2B0E076-606A-4E36-AED8-63C489502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7429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11827"/>
                </a:solidFill>
              </a:defRPr>
            </a:pPr>
            <a:r>
              <a:rPr sz="2325" b="1">
                <a:solidFill>
                  <a:srgbClr val="111827"/>
                </a:solidFill>
              </a:rPr>
              <a:t>왜 지금 AI 훈련이 필요한가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C593F6-4041-41D2-A2FB-C50FB90AB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8001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457C5"/>
                </a:solidFill>
              </a:defRPr>
            </a:pPr>
            <a:r>
              <a:rPr sz="1350" b="1">
                <a:solidFill>
                  <a:srgbClr val="2457C5"/>
                </a:solidFill>
              </a:rPr>
              <a:t>AI 역량은 업무 생산성과 품질을 좌우하는 핵심 경쟁요소입니다.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CEF8E81-6517-4C27-A3F3-CF11E500B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71650"/>
            <a:ext cx="10820400" cy="9525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9AA1B6-0052-442D-B753-A17A54DF7F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4857750" cy="371475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BBC7C3-12CC-4ACE-971A-EA1962C4A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324100"/>
            <a:ext cx="4286250" cy="304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• 광학렌즈 중심에서 머신비전·열화상 솔루션 영역으로 확대</a:t>
            </a:r>
          </a:p>
          <a:p xmlns:a="http://schemas.openxmlformats.org/drawingml/2006/main">
            <a:pPr algn="l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• 연구개발, 생산품질, 영업, 고객지원 전 부문 문서·분석 업무 증가</a:t>
            </a:r>
          </a:p>
          <a:p xmlns:a="http://schemas.openxmlformats.org/drawingml/2006/main">
            <a:pPr algn="l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• 생성형 AI는 보고, 분석, 응대, 지식정리 속도 향상에 효과적</a:t>
            </a:r>
          </a:p>
          <a:p xmlns:a="http://schemas.openxmlformats.org/drawingml/2006/main">
            <a:pPr algn="l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• 범용교육이 아닌 현업 적용형 훈련체계 필요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6095A4-0FB1-4F47-B629-1009CF792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667000"/>
            <a:ext cx="1219200" cy="123825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DCE8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72F145C-DCD7-477A-9470-994FB01C6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933700"/>
            <a:ext cx="10287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사업 확대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8D5F0EC-FD39-4C09-9C9F-B899ECCE1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143250"/>
            <a:ext cx="114300" cy="2286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D1D5DB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D4F25D9-EB40-4B0D-9CAA-DB13FE180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2667000"/>
            <a:ext cx="1219200" cy="123825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EEF2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0CB2F52-9F02-45EA-8B8A-2CB6E22C3E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933700"/>
            <a:ext cx="10287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업무 복잡도 증가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A1215C8-573C-4C14-A760-5D68664DC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143250"/>
            <a:ext cx="114300" cy="2286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D1D5DB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78619BE-3ED0-4666-A358-33C47389A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667000"/>
            <a:ext cx="1219200" cy="1238250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DCE8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FF63416-E668-4CE7-A6EA-205B3E53E2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9700" y="2933700"/>
            <a:ext cx="10287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AI 역량 필요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C468B1F-1D3A-4D29-A5F9-434AAB1F5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B5563"/>
                </a:solidFill>
              </a:defRPr>
            </a:pPr>
            <a:r>
              <a:rPr sz="900" b="0">
                <a:solidFill>
                  <a:srgbClr val="4B5563"/>
                </a:solidFill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49222062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3D4E148-81CD-4448-8D8B-7EC74E92A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7429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11827"/>
                </a:solidFill>
              </a:defRPr>
            </a:pPr>
            <a:r>
              <a:rPr sz="2325" b="1">
                <a:solidFill>
                  <a:srgbClr val="111827"/>
                </a:solidFill>
              </a:rPr>
              <a:t>AI 훈련의 목표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083B925-73CC-4EC5-AF21-2852092E4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8001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457C5"/>
                </a:solidFill>
              </a:defRPr>
            </a:pPr>
            <a:r>
              <a:rPr sz="1350" b="1">
                <a:solidFill>
                  <a:srgbClr val="2457C5"/>
                </a:solidFill>
              </a:rPr>
              <a:t>교육 수료가 아니라 현업 적용과 성과 창출이 목표입니다.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EFFD07-B8DA-4D0B-B4BF-8D753DC2F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71650"/>
            <a:ext cx="10820400" cy="9525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F1BDB5-99D0-48E5-9241-28D477E63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3238500" cy="1381125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5B9C31-43F9-4BAB-BA61-F8E0B6F7C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286000"/>
            <a:ext cx="28194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임직원 AI 기본 활용역량 확보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1199C3-2205-4A0F-816F-4276DB794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000250"/>
            <a:ext cx="3238500" cy="1381125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DCE8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6E3DF1-1ACB-44EC-9405-0C02EBD99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286000"/>
            <a:ext cx="28194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부서별 핵심업무 AI 적용 시나리오 설계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5466457-762D-4A30-B7A1-56FA6FDDD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000250"/>
            <a:ext cx="3238500" cy="1381125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CFD1B47-7475-4D41-AAF4-019EC07FD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286000"/>
            <a:ext cx="28194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현업 과제 기반 프로젝트 수행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8951CA8-AF28-4144-B61E-0326187F2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29025"/>
            <a:ext cx="3238500" cy="1381125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DCE8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09C4D93-822E-4328-9B38-53B3AC7C8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914775"/>
            <a:ext cx="28194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사내 표준 프롬프트와 활용사례 축적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C8E724A-A566-4F18-8559-1471E36F3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3629025"/>
            <a:ext cx="3238500" cy="1381125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413EC9D-58C2-457E-B12E-942189846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914775"/>
            <a:ext cx="28194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교육 이후 자율 확산 체계 구축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429D558-CECB-40DC-B35E-3CD50D05F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B5563"/>
                </a:solidFill>
              </a:defRPr>
            </a:pPr>
            <a:r>
              <a:rPr sz="900" b="0">
                <a:solidFill>
                  <a:srgbClr val="4B5563"/>
                </a:solidFill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214525021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DA74358-F11F-4D63-9BB2-A06A68A94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7429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11827"/>
                </a:solidFill>
              </a:defRPr>
            </a:pPr>
            <a:r>
              <a:rPr sz="2325" b="1">
                <a:solidFill>
                  <a:srgbClr val="111827"/>
                </a:solidFill>
              </a:rPr>
              <a:t>운영 방향과 설계 원칙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DF7089B-090A-49B4-87D3-1906746CF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8001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457C5"/>
                </a:solidFill>
              </a:defRPr>
            </a:pPr>
            <a:r>
              <a:rPr sz="1350" b="1">
                <a:solidFill>
                  <a:srgbClr val="2457C5"/>
                </a:solidFill>
              </a:rPr>
              <a:t>현업 중심, 실습 중심, 성과 중심으로 운영합니다.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2A1743-5672-444C-BEF6-3B8BFE7BD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71650"/>
            <a:ext cx="10820400" cy="9525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D9D040-6643-4510-BC41-7F0326DF1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3238500" cy="1381125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25EE855-EB92-4F03-8F20-25319CF57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286000"/>
            <a:ext cx="28194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현업 우선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91FCB8-B94C-442D-BA4C-51556FC42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2000250"/>
            <a:ext cx="3238500" cy="1381125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DCE8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EA64184-7DB9-4AE3-8A6A-A0009C7A8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286000"/>
            <a:ext cx="28194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단계별 확산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A2F9A16-4EA8-4CD5-85ED-36585B500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4300" y="2000250"/>
            <a:ext cx="3238500" cy="1381125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F170517-84E8-42DB-B1CE-04CA132F5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286000"/>
            <a:ext cx="28194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실습 중심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BD66096-48A4-4BA8-8A87-1FB456C8B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29025"/>
            <a:ext cx="3238500" cy="1381125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DCE8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0F720F3-7A05-41E7-BDA0-CA1052635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914775"/>
            <a:ext cx="28194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표준화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83646D1-7B04-4382-976A-794CE2B31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3629025"/>
            <a:ext cx="3238500" cy="1381125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F3AA090-E7BD-41AB-A171-FBC5D429B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914775"/>
            <a:ext cx="28194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11827"/>
                </a:solidFill>
              </a:defRPr>
            </a:pPr>
            <a:r>
              <a:rPr sz="1650" b="1">
                <a:solidFill>
                  <a:srgbClr val="111827"/>
                </a:solidFill>
              </a:rPr>
              <a:t>성과관리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121B565-68F9-4AD6-993D-840E8AAD1B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B5563"/>
                </a:solidFill>
              </a:defRPr>
            </a:pPr>
            <a:r>
              <a:rPr sz="900" b="0">
                <a:solidFill>
                  <a:srgbClr val="4B5563"/>
                </a:solidFill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99037853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283A3E0-DED6-4E21-B2F2-641ACB59C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7429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11827"/>
                </a:solidFill>
              </a:defRPr>
            </a:pPr>
            <a:r>
              <a:rPr sz="2325" b="1">
                <a:solidFill>
                  <a:srgbClr val="111827"/>
                </a:solidFill>
              </a:rPr>
              <a:t>AI 훈련로드맵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DEA6E1A-B3F0-4040-9770-179F46A1BC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8001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457C5"/>
                </a:solidFill>
              </a:defRPr>
            </a:pPr>
            <a:r>
              <a:rPr sz="1350" b="1">
                <a:solidFill>
                  <a:srgbClr val="2457C5"/>
                </a:solidFill>
              </a:rPr>
              <a:t>진단부터 적용, 확산까지 5단계로 추진합니다.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DEB1272-C398-4116-A87F-CAE5CC447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71650"/>
            <a:ext cx="10820400" cy="9525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EE5DB0-5639-4DF0-B8FB-6C779A723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62250"/>
            <a:ext cx="179070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C4FF52C-3B4C-4E60-B812-708995C46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933700"/>
            <a:ext cx="1447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진단 및 설계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73DCCC2-D7DD-403B-852F-CEF213723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543300"/>
            <a:ext cx="1447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B5563"/>
                </a:solidFill>
              </a:defRPr>
            </a:pPr>
            <a:r>
              <a:rPr sz="975" b="0">
                <a:solidFill>
                  <a:srgbClr val="4B5563"/>
                </a:solidFill>
              </a:rPr>
              <a:t>1단계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47B59E-CF88-4B86-AE12-AB446C888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3190875"/>
            <a:ext cx="171450" cy="2857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2457C5"/>
          </a:solidFill>
          <a:ln xmlns:a="http://schemas.openxmlformats.org/drawingml/2006/main" w="9525">
            <a:solidFill>
              <a:srgbClr val="2457C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117F0A3-7523-4797-9F7C-81DE487D2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762250"/>
            <a:ext cx="179070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3EC7E41-82A8-4226-A566-171985803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933700"/>
            <a:ext cx="1447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공통역량 내재화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D5DB3FE-9103-4039-BD49-3DAB828CE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543300"/>
            <a:ext cx="1447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B5563"/>
                </a:solidFill>
              </a:defRPr>
            </a:pPr>
            <a:r>
              <a:rPr sz="975" b="0">
                <a:solidFill>
                  <a:srgbClr val="4B5563"/>
                </a:solidFill>
              </a:rPr>
              <a:t>2단계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3F1D2D6-5A27-4F35-87D8-C1BE45535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3190875"/>
            <a:ext cx="171450" cy="2857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2457C5"/>
          </a:solidFill>
          <a:ln xmlns:a="http://schemas.openxmlformats.org/drawingml/2006/main" w="9525">
            <a:solidFill>
              <a:srgbClr val="2457C5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98E35C1-5A3D-486D-96DD-A90A95A79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2762250"/>
            <a:ext cx="179070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C47A8A3-954C-4106-AA34-4E8A729E7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933700"/>
            <a:ext cx="1447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직무별 심화 실습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4D8A33A-43B4-4EF3-B71D-E7F0253C4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543300"/>
            <a:ext cx="1447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B5563"/>
                </a:solidFill>
              </a:defRPr>
            </a:pPr>
            <a:r>
              <a:rPr sz="975" b="0">
                <a:solidFill>
                  <a:srgbClr val="4B5563"/>
                </a:solidFill>
              </a:rPr>
              <a:t>3단계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B697A2F-24BF-4E2C-8EBD-2018EB6DB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190875"/>
            <a:ext cx="171450" cy="2857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2457C5"/>
          </a:solidFill>
          <a:ln xmlns:a="http://schemas.openxmlformats.org/drawingml/2006/main" w="9525">
            <a:solidFill>
              <a:srgbClr val="2457C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77C4072-9589-4324-B827-31E115446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762250"/>
            <a:ext cx="179070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DCE8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4240597-523A-430C-B1B9-CB09FADC8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2933700"/>
            <a:ext cx="1447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SOJT 기반 PBL 현장 적용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3BE00C9-583F-46CC-9352-293397872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543300"/>
            <a:ext cx="1447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B5563"/>
                </a:solidFill>
              </a:defRPr>
            </a:pPr>
            <a:r>
              <a:rPr sz="975" b="0">
                <a:solidFill>
                  <a:srgbClr val="4B5563"/>
                </a:solidFill>
              </a:rPr>
              <a:t>4단계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838C980-0E86-46C2-98CE-BA0BA02FA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3190875"/>
            <a:ext cx="171450" cy="28575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2457C5"/>
          </a:solidFill>
          <a:ln xmlns:a="http://schemas.openxmlformats.org/drawingml/2006/main" w="9525">
            <a:solidFill>
              <a:srgbClr val="2457C5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313B2D9-1EE0-4883-BEFF-868BC1D49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762250"/>
            <a:ext cx="179070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7B24DEB-26E9-4289-869B-33A22982F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933700"/>
            <a:ext cx="14478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성과 확산 및 정착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008A320-EA4C-45E9-83F1-340F082EE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3543300"/>
            <a:ext cx="1447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4B5563"/>
                </a:solidFill>
              </a:defRPr>
            </a:pPr>
            <a:r>
              <a:rPr sz="975" b="0">
                <a:solidFill>
                  <a:srgbClr val="4B5563"/>
                </a:solidFill>
              </a:rPr>
              <a:t>5단계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8573FEE-EE75-47FE-ACD0-8CE573E5B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B5563"/>
                </a:solidFill>
              </a:defRPr>
            </a:pPr>
            <a:r>
              <a:rPr sz="900" b="0">
                <a:solidFill>
                  <a:srgbClr val="4B5563"/>
                </a:solidFill>
              </a:rPr>
              <a:t>5</a:t>
            </a:r>
          </a:p>
        </p:txBody>
      </p:sp>
    </p:spTree>
    <p:extLst>
      <p:ext uri="{BB962C8B-B14F-4D97-AF65-F5344CB8AC3E}">
        <p14:creationId xmlns:p14="http://schemas.microsoft.com/office/powerpoint/2010/main" val="22165914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118ED65-D439-4439-985D-B3F7E6D82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7429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11827"/>
                </a:solidFill>
              </a:defRPr>
            </a:pPr>
            <a:r>
              <a:rPr sz="2325" b="1">
                <a:solidFill>
                  <a:srgbClr val="111827"/>
                </a:solidFill>
              </a:rPr>
              <a:t>단계별 실행 내용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45A0895-3D7E-4B2D-A667-EAFDD6A44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8001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457C5"/>
                </a:solidFill>
              </a:defRPr>
            </a:pPr>
            <a:r>
              <a:rPr sz="1350" b="1">
                <a:solidFill>
                  <a:srgbClr val="2457C5"/>
                </a:solidFill>
              </a:rPr>
              <a:t>각 단계는 학습보다 실행과 결과물 확보에 초점을 둡니다.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C5810A-F8C5-4864-9D7E-537F23EBB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71650"/>
            <a:ext cx="10820400" cy="9525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954D1BF-44FF-4A3C-A4F9-54D535EE5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05000"/>
            <a:ext cx="10820400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9FAFB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971C03C-6BF6-4ADD-983D-4667E2A54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38350"/>
            <a:ext cx="1038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827"/>
                </a:solidFill>
              </a:defRPr>
            </a:pPr>
            <a:r>
              <a:rPr sz="1650" b="0">
                <a:solidFill>
                  <a:srgbClr val="111827"/>
                </a:solidFill>
              </a:rPr>
              <a:t>1단계: 인터뷰, 직무분석, 과제 도출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022216-1547-404D-91A7-30D6611FC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90800"/>
            <a:ext cx="10820400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EEF4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1A5330-FCA6-4ADA-A88B-473B8CDB2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24150"/>
            <a:ext cx="1038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827"/>
                </a:solidFill>
              </a:defRPr>
            </a:pPr>
            <a:r>
              <a:rPr sz="1650" b="0">
                <a:solidFill>
                  <a:srgbClr val="111827"/>
                </a:solidFill>
              </a:rPr>
              <a:t>2단계: AI 기초, 프롬프트, 문서·데이터 실습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ED6D3EF-2A4C-424D-BAEE-6DB2ED3E5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76600"/>
            <a:ext cx="10820400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9FAFB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BD2829-F4BE-4F33-AABC-9B0C7AF8D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09950"/>
            <a:ext cx="1038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827"/>
                </a:solidFill>
              </a:defRPr>
            </a:pPr>
            <a:r>
              <a:rPr sz="1650" b="0">
                <a:solidFill>
                  <a:srgbClr val="111827"/>
                </a:solidFill>
              </a:rPr>
              <a:t>3단계: 직무별 심화 실습, 템플릿 개발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0569DCE-4A62-4C95-A18A-A34F194D6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62400"/>
            <a:ext cx="10820400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EEF4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A0A3BC2-8A7D-4098-8119-942EF1EBB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95750"/>
            <a:ext cx="1038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827"/>
                </a:solidFill>
              </a:defRPr>
            </a:pPr>
            <a:r>
              <a:rPr sz="1650" b="0">
                <a:solidFill>
                  <a:srgbClr val="111827"/>
                </a:solidFill>
              </a:rPr>
              <a:t>4단계: 현업 과제 수행, 코칭, 적용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21145AF-6725-45B9-A3BC-7F3C5DA76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48200"/>
            <a:ext cx="10820400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9FAFB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2AD99FB-1410-4B89-88D2-76D8718DF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781550"/>
            <a:ext cx="1038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827"/>
                </a:solidFill>
              </a:defRPr>
            </a:pPr>
            <a:r>
              <a:rPr sz="1650" b="0">
                <a:solidFill>
                  <a:srgbClr val="111827"/>
                </a:solidFill>
              </a:rPr>
              <a:t>5단계: 성과 발표, 표준화, 확산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B044544-5BD2-442C-A006-C575AB78F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B5563"/>
                </a:solidFill>
              </a:defRPr>
            </a:pPr>
            <a:r>
              <a:rPr sz="900" b="0">
                <a:solidFill>
                  <a:srgbClr val="4B5563"/>
                </a:solidFill>
              </a:rPr>
              <a:t>6</a:t>
            </a:r>
          </a:p>
        </p:txBody>
      </p:sp>
    </p:spTree>
    <p:extLst>
      <p:ext uri="{BB962C8B-B14F-4D97-AF65-F5344CB8AC3E}">
        <p14:creationId xmlns:p14="http://schemas.microsoft.com/office/powerpoint/2010/main" val="61375660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30E5804-32FE-4F26-A753-189007D0C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7429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11827"/>
                </a:solidFill>
              </a:defRPr>
            </a:pPr>
            <a:r>
              <a:rPr sz="2325" b="1">
                <a:solidFill>
                  <a:srgbClr val="111827"/>
                </a:solidFill>
              </a:rPr>
              <a:t>왜 SOJT와 PBL을 결합하는가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11DC02-5403-4BAE-A353-DFAE83EFC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8001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457C5"/>
                </a:solidFill>
              </a:defRPr>
            </a:pPr>
            <a:r>
              <a:rPr sz="1350" b="1">
                <a:solidFill>
                  <a:srgbClr val="2457C5"/>
                </a:solidFill>
              </a:rPr>
              <a:t>배운 내용을 즉시 현장에 적용해 성과로 연결하기 위해서입니다.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803810-6165-4900-B652-5116220E0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71650"/>
            <a:ext cx="10820400" cy="9525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AA299D9-7731-4ECE-9F9C-BAE2F1E9F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4857750" cy="371475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4EE7F26-E415-43E0-BEB7-C0379588A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324100"/>
            <a:ext cx="4286250" cy="304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• SOJT: 직무 기반 체계적 현장훈련</a:t>
            </a:r>
          </a:p>
          <a:p xmlns:a="http://schemas.openxmlformats.org/drawingml/2006/main">
            <a:pPr algn="l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• PBL: 문제 해결형 팀 프로젝트 학습</a:t>
            </a:r>
          </a:p>
          <a:p xmlns:a="http://schemas.openxmlformats.org/drawingml/2006/main">
            <a:pPr algn="l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• 팀 단위 실제 과제 수행</a:t>
            </a:r>
          </a:p>
          <a:p xmlns:a="http://schemas.openxmlformats.org/drawingml/2006/main">
            <a:pPr algn="l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• 현업 리더와 코치의 공동 피드백</a:t>
            </a:r>
          </a:p>
          <a:p xmlns:a="http://schemas.openxmlformats.org/drawingml/2006/main">
            <a:pPr algn="l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• 결과물을 실제 업무 프로세스에 반영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288868-4A3A-422F-B222-CE6A36015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667000"/>
            <a:ext cx="971550" cy="12382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DCE8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FCEBD34-D1ED-4036-BB83-6EC8175DB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933700"/>
            <a:ext cx="7810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과제선정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360BD1B-FC86-4D18-963B-37197A305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143250"/>
            <a:ext cx="114300" cy="2286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D1D5DB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32BB7D3-5F9A-4B7C-925C-AE41B5A220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667000"/>
            <a:ext cx="971550" cy="12382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EF2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B978326-3EA6-4F80-9E03-ED79A9D8E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933700"/>
            <a:ext cx="7810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직무분석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D9E4C30-347B-436A-90FC-4FFCF45AE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143250"/>
            <a:ext cx="114300" cy="2286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D1D5DB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2C46455-3954-4CFA-BDEC-7B7A87252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667000"/>
            <a:ext cx="971550" cy="12382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DCE8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8B45A82-320E-4734-B040-EA0BC9A53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933700"/>
            <a:ext cx="7810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훈련설계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37A10B8-2A89-48F4-A186-10C845925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143250"/>
            <a:ext cx="114300" cy="2286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D1D5DB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3C33B22-5071-4A9F-B9FE-E4F847A53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2667000"/>
            <a:ext cx="971550" cy="12382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EF2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60ED8D9-1BE4-4C64-9E90-951D8DAE4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2933700"/>
            <a:ext cx="7810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현장수행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FF21D41-7C49-4F64-85B4-B74DAD238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3143250"/>
            <a:ext cx="114300" cy="2286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D1D5DB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88A4A4F-A047-4B39-8D9B-7CD86BA8A5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2667000"/>
            <a:ext cx="971550" cy="12382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DCE8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A13333D-2687-4DDA-B53F-47DE76EC7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2933700"/>
            <a:ext cx="7810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평가정착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E3FB21F-1733-4700-9675-09567AEEA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B5563"/>
                </a:solidFill>
              </a:defRPr>
            </a:pPr>
            <a:r>
              <a:rPr sz="900" b="0">
                <a:solidFill>
                  <a:srgbClr val="4B5563"/>
                </a:solidFill>
              </a:rPr>
              <a:t>7</a:t>
            </a:r>
          </a:p>
        </p:txBody>
      </p:sp>
    </p:spTree>
    <p:extLst>
      <p:ext uri="{BB962C8B-B14F-4D97-AF65-F5344CB8AC3E}">
        <p14:creationId xmlns:p14="http://schemas.microsoft.com/office/powerpoint/2010/main" val="18125421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EA027AA-32EA-448D-9DC3-2D92C149C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7429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11827"/>
                </a:solidFill>
              </a:defRPr>
            </a:pPr>
            <a:r>
              <a:rPr sz="2325" b="1">
                <a:solidFill>
                  <a:srgbClr val="111827"/>
                </a:solidFill>
              </a:rPr>
              <a:t>PBL 기반 8주 운영안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4B42F8-C1C6-4F65-B8FC-430BDEB33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8001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457C5"/>
                </a:solidFill>
              </a:defRPr>
            </a:pPr>
            <a:r>
              <a:rPr sz="1350" b="1">
                <a:solidFill>
                  <a:srgbClr val="2457C5"/>
                </a:solidFill>
              </a:rPr>
              <a:t>주차별 목표와 산출물을 명확히 관리합니다.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247991-2672-47A6-BA18-51A42A2A1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71650"/>
            <a:ext cx="10820400" cy="9525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548BDB-0AF0-4412-A0D4-7CF8377B7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38500"/>
            <a:ext cx="647700" cy="647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E8FF"/>
          </a:solidFill>
          <a:ln xmlns:a="http://schemas.openxmlformats.org/drawingml/2006/main" w="14288">
            <a:solidFill>
              <a:srgbClr val="2457C5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3CA2EA8-CB6F-4E66-A6EA-446545A00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419475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5A4879-6E57-407F-A2CB-4E3E6F03A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19550"/>
            <a:ext cx="11049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11827"/>
                </a:solidFill>
              </a:defRPr>
            </a:pPr>
            <a:r>
              <a:rPr sz="1200" b="0">
                <a:solidFill>
                  <a:srgbClr val="111827"/>
                </a:solidFill>
              </a:rPr>
              <a:t>1주차: 킥오프, 과제정의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7407827-C6E7-4CC4-85C2-A0D2299FB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2100" y="3562350"/>
            <a:ext cx="781050" cy="9525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D1D5D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AD5C7D5-4BD5-4E7E-8060-C0BE45902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3238500"/>
            <a:ext cx="647700" cy="647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E8FF"/>
          </a:solidFill>
          <a:ln xmlns:a="http://schemas.openxmlformats.org/drawingml/2006/main" w="14288">
            <a:solidFill>
              <a:srgbClr val="2457C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C8B659B-8C15-4405-B1A1-54ABCE74D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9350" y="3419475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539B51F-12D3-43F8-A27B-38D378E62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4019550"/>
            <a:ext cx="11049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11827"/>
                </a:solidFill>
              </a:defRPr>
            </a:pPr>
            <a:r>
              <a:rPr sz="1200" b="0">
                <a:solidFill>
                  <a:srgbClr val="111827"/>
                </a:solidFill>
              </a:rPr>
              <a:t>2주차: 현행업무 분석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35F311B-5A89-4D7F-B9FD-1609E72FC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562350"/>
            <a:ext cx="781050" cy="9525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D1D5D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57B1C4B-3FC5-49C7-9546-E770955123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1900" y="3238500"/>
            <a:ext cx="647700" cy="647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E8FF"/>
          </a:solidFill>
          <a:ln xmlns:a="http://schemas.openxmlformats.org/drawingml/2006/main" w="14288">
            <a:solidFill>
              <a:srgbClr val="2457C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2CA5F1B-4631-4212-A3D2-C71214240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3419475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B886190-F9ED-4920-AC4C-68D72093F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4019550"/>
            <a:ext cx="11049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11827"/>
                </a:solidFill>
              </a:defRPr>
            </a:pPr>
            <a:r>
              <a:rPr sz="1200" b="0">
                <a:solidFill>
                  <a:srgbClr val="111827"/>
                </a:solidFill>
              </a:rPr>
              <a:t>3주차: AI 적용 설계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AF712F0-06A3-418D-A0A6-F11E363C2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3562350"/>
            <a:ext cx="781050" cy="9525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D1D5D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8BB8674-35C7-4888-B980-DAA6AF505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3238500"/>
            <a:ext cx="647700" cy="647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14288">
            <a:solidFill>
              <a:srgbClr val="2457C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B4C4137-C704-4D51-8C66-F1F06D474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3419475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39E7290-8AEB-4043-AFCD-08EFD6403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72050" y="4019550"/>
            <a:ext cx="11049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11827"/>
                </a:solidFill>
              </a:defRPr>
            </a:pPr>
            <a:r>
              <a:rPr sz="1200" b="0">
                <a:solidFill>
                  <a:srgbClr val="111827"/>
                </a:solidFill>
              </a:rPr>
              <a:t>4~5주차: 실습 및 파일럿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08593F0-45F5-434C-96F7-0006BAE24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8350" y="3562350"/>
            <a:ext cx="781050" cy="9525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D1D5D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6CE4352-C023-492C-BF54-CC99B9058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238500"/>
            <a:ext cx="647700" cy="647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14288">
            <a:solidFill>
              <a:srgbClr val="2457C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EB958F4-2543-4AE0-A56D-11F138836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419475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5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5CFD8AC-3AA6-4FB1-A085-57C042A24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019550"/>
            <a:ext cx="11049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11827"/>
                </a:solidFill>
              </a:defRPr>
            </a:pPr>
            <a:r>
              <a:rPr sz="1200" b="0">
                <a:solidFill>
                  <a:srgbClr val="111827"/>
                </a:solidFill>
              </a:rPr>
              <a:t>6주차: 현장 적용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01801AC-C414-4909-990B-0A20F9077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7100" y="3562350"/>
            <a:ext cx="781050" cy="9525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D1D5DB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09BDD6D-FC0C-46E2-B033-CBB084F101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238500"/>
            <a:ext cx="647700" cy="647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14288">
            <a:solidFill>
              <a:srgbClr val="2457C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B5C96D0-FB0F-4215-858B-DC4B2C00E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419475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6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60A014E-DE64-4DCE-96A0-BADAB2FF3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4019550"/>
            <a:ext cx="11049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11827"/>
                </a:solidFill>
              </a:defRPr>
            </a:pPr>
            <a:r>
              <a:rPr sz="1200" b="0">
                <a:solidFill>
                  <a:srgbClr val="111827"/>
                </a:solidFill>
              </a:rPr>
              <a:t>7주차: 개선 및 표준화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BD4CC04-947B-4B08-9DFD-0D24DE58C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562350"/>
            <a:ext cx="781050" cy="9525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D1D5DB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3F2BC43-225C-4A42-B1E9-4FC565DAE0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3238500"/>
            <a:ext cx="647700" cy="647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3F4F6"/>
          </a:solidFill>
          <a:ln xmlns:a="http://schemas.openxmlformats.org/drawingml/2006/main" w="14288">
            <a:solidFill>
              <a:srgbClr val="2457C5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F416B4E-A183-480E-AC95-7A1B30835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3419475"/>
            <a:ext cx="4953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11827"/>
                </a:solidFill>
              </a:defRPr>
            </a:pPr>
            <a:r>
              <a:rPr sz="1500" b="1">
                <a:solidFill>
                  <a:srgbClr val="111827"/>
                </a:solidFill>
              </a:rPr>
              <a:t>7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BEF1BC1-2C16-4B6F-A494-B4E2E2C39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58300" y="4019550"/>
            <a:ext cx="11049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111827"/>
                </a:solidFill>
              </a:defRPr>
            </a:pPr>
            <a:r>
              <a:rPr sz="1200" b="0">
                <a:solidFill>
                  <a:srgbClr val="111827"/>
                </a:solidFill>
              </a:rPr>
              <a:t>8주차: 발표 및 평가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B642B78-F4CA-4B68-9506-AB5F1305F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B5563"/>
                </a:solidFill>
              </a:defRPr>
            </a:pPr>
            <a:r>
              <a:rPr sz="900" b="0">
                <a:solidFill>
                  <a:srgbClr val="4B5563"/>
                </a:solidFill>
              </a:rPr>
              <a:t>8</a:t>
            </a:r>
          </a:p>
        </p:txBody>
      </p:sp>
    </p:spTree>
    <p:extLst>
      <p:ext uri="{BB962C8B-B14F-4D97-AF65-F5344CB8AC3E}">
        <p14:creationId xmlns:p14="http://schemas.microsoft.com/office/powerpoint/2010/main" val="99023825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9A7C117-33DA-4FC4-A385-F7D73217ED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7429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11827"/>
                </a:solidFill>
              </a:defRPr>
            </a:pPr>
            <a:r>
              <a:rPr sz="2325" b="1">
                <a:solidFill>
                  <a:srgbClr val="111827"/>
                </a:solidFill>
              </a:rPr>
              <a:t>부서별 AI 현업 과제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C72115F-1631-4964-9BB0-C6C3108EB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8001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457C5"/>
                </a:solidFill>
              </a:defRPr>
            </a:pPr>
            <a:r>
              <a:rPr sz="1350" b="1">
                <a:solidFill>
                  <a:srgbClr val="2457C5"/>
                </a:solidFill>
              </a:rPr>
              <a:t>동일 교육이 아니라 부서별 과제를 중심으로 운영합니다.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EF4FD4-366A-40C0-8330-2AA89ADB5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71650"/>
            <a:ext cx="10820400" cy="9525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164A73-1B2E-46C4-A918-0FF50C51E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05000"/>
            <a:ext cx="10820400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9FAFB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96E86F-218E-43FD-92A8-F6E40ACD3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38350"/>
            <a:ext cx="1038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827"/>
                </a:solidFill>
              </a:defRPr>
            </a:pPr>
            <a:r>
              <a:rPr sz="1650" b="0">
                <a:solidFill>
                  <a:srgbClr val="111827"/>
                </a:solidFill>
              </a:rPr>
              <a:t>연구개발: 기술자료 요약, 경쟁사 분석, 시험결과 문서화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7631DD9-B871-4C59-AAD7-22B4648A8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90800"/>
            <a:ext cx="10820400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EEF4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74C5494-ADC9-4253-9BE4-73B963267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24150"/>
            <a:ext cx="1038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827"/>
                </a:solidFill>
              </a:defRPr>
            </a:pPr>
            <a:r>
              <a:rPr sz="1650" b="0">
                <a:solidFill>
                  <a:srgbClr val="111827"/>
                </a:solidFill>
              </a:rPr>
              <a:t>생산품질: 불량보고서 표준화, CAPA 초안, 점검문서 자동화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655882E-3827-4EA9-9BBD-C1FC2C249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76600"/>
            <a:ext cx="10820400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9FAFB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B064F62-CB0A-4F6B-9EF8-DFFC0E885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09950"/>
            <a:ext cx="1038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827"/>
                </a:solidFill>
              </a:defRPr>
            </a:pPr>
            <a:r>
              <a:rPr sz="1650" b="0">
                <a:solidFill>
                  <a:srgbClr val="111827"/>
                </a:solidFill>
              </a:rPr>
              <a:t>영업마케팅: 제품 제안서, 영문 이메일, 콘텐츠 기획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6F3FC3-BA5A-4BEE-A216-E20AB13B3E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62400"/>
            <a:ext cx="10820400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EEF4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BFEB6BD-6413-42EE-895D-A96945F54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95750"/>
            <a:ext cx="1038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827"/>
                </a:solidFill>
              </a:defRPr>
            </a:pPr>
            <a:r>
              <a:rPr sz="1650" b="0">
                <a:solidFill>
                  <a:srgbClr val="111827"/>
                </a:solidFill>
              </a:rPr>
              <a:t>고객지원: FAQ 개편, VOC 분류, 응대 시나리오 작성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4B671C6-E8AA-4AAC-9A49-EB4F33785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48200"/>
            <a:ext cx="10820400" cy="533400"/>
          </a:xfrm>
          <a:prstGeom xmlns:a="http://schemas.openxmlformats.org/drawingml/2006/main" prst="roundRect">
            <a:avLst>
              <a:gd name="adj" fmla="val 21429"/>
            </a:avLst>
          </a:prstGeom>
          <a:solidFill xmlns:a="http://schemas.openxmlformats.org/drawingml/2006/main">
            <a:srgbClr val="F9FAFB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D830BBF-ECFA-46A9-8FD9-35A02B4A2A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781550"/>
            <a:ext cx="1038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11827"/>
                </a:solidFill>
              </a:defRPr>
            </a:pPr>
            <a:r>
              <a:rPr sz="1650" b="0">
                <a:solidFill>
                  <a:srgbClr val="111827"/>
                </a:solidFill>
              </a:rPr>
              <a:t>경영지원: 회의록, 보고서, 규정 문서 요약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161A42F-294A-4CDD-B21E-4DE0EE977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B5563"/>
                </a:solidFill>
              </a:defRPr>
            </a:pPr>
            <a:r>
              <a:rPr sz="900" b="0">
                <a:solidFill>
                  <a:srgbClr val="4B5563"/>
                </a:solidFill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69934904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10B98B5-A555-45CB-9EF4-3BA29392D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7429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11827"/>
                </a:solidFill>
              </a:defRPr>
            </a:pPr>
            <a:r>
              <a:rPr sz="2325" b="1">
                <a:solidFill>
                  <a:srgbClr val="111827"/>
                </a:solidFill>
              </a:rPr>
              <a:t>기대성과와 KPI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71F8AA-71F6-4E97-9960-95286A281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8001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457C5"/>
                </a:solidFill>
              </a:defRPr>
            </a:pPr>
            <a:r>
              <a:rPr sz="1350" b="1">
                <a:solidFill>
                  <a:srgbClr val="2457C5"/>
                </a:solidFill>
              </a:rPr>
              <a:t>성과는 수료율보다 현업 적용과 생산성 개선으로 측정합니다.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662B52-7AAD-42C0-8935-BB9951852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71650"/>
            <a:ext cx="10820400" cy="9525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8F37E3-3EBA-4090-ABB3-D2D02E965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323850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DCE8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AA5BE56-2A24-4449-BDAD-053E1875F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241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2457C5"/>
                </a:solidFill>
              </a:defRPr>
            </a:pPr>
            <a:r>
              <a:rPr sz="2550" b="1">
                <a:solidFill>
                  <a:srgbClr val="2457C5"/>
                </a:solidFill>
              </a:rPr>
              <a:t>90%+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DCFA10-036F-4757-9D20-FCC79D384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819400"/>
            <a:ext cx="2781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11827"/>
                </a:solidFill>
              </a:defRPr>
            </a:pPr>
            <a:r>
              <a:rPr sz="1350" b="0">
                <a:solidFill>
                  <a:srgbClr val="111827"/>
                </a:solidFill>
              </a:rPr>
              <a:t>교육 참여율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7FE6F3D-736A-4B5A-A113-20EB0E38A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095500"/>
            <a:ext cx="323850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DCE8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F38CAF-D9CB-471F-A14D-0D05CCC0F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23241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2457C5"/>
                </a:solidFill>
              </a:defRPr>
            </a:pPr>
            <a:r>
              <a:rPr sz="2550" b="1">
                <a:solidFill>
                  <a:srgbClr val="2457C5"/>
                </a:solidFill>
              </a:rPr>
              <a:t>85%+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03C368C-A37F-4826-9CF4-5B9FB9D27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819400"/>
            <a:ext cx="2781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11827"/>
                </a:solidFill>
              </a:defRPr>
            </a:pPr>
            <a:r>
              <a:rPr sz="1350" b="0">
                <a:solidFill>
                  <a:srgbClr val="111827"/>
                </a:solidFill>
              </a:rPr>
              <a:t>수료율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8ACBFD8-F84F-4BFB-AEEC-09FAEAE615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095500"/>
            <a:ext cx="323850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DCE8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AD74475-3620-4436-B743-05696AD60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232410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2457C5"/>
                </a:solidFill>
              </a:defRPr>
            </a:pPr>
            <a:r>
              <a:rPr sz="2550" b="1">
                <a:solidFill>
                  <a:srgbClr val="2457C5"/>
                </a:solidFill>
              </a:rPr>
              <a:t>70%+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7D10FED-2275-46F4-84DA-67FF91C86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819400"/>
            <a:ext cx="2781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11827"/>
                </a:solidFill>
              </a:defRPr>
            </a:pPr>
            <a:r>
              <a:rPr sz="1350" b="0">
                <a:solidFill>
                  <a:srgbClr val="111827"/>
                </a:solidFill>
              </a:rPr>
              <a:t>현업 적용 과제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807BDC5-5C6A-4EEF-ABBF-E9D2BF4B0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14750"/>
            <a:ext cx="323850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9FAFB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093055D-A2B8-49CD-97A8-397C5A078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94335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2457C5"/>
                </a:solidFill>
              </a:defRPr>
            </a:pPr>
            <a:r>
              <a:rPr sz="2550" b="1">
                <a:solidFill>
                  <a:srgbClr val="2457C5"/>
                </a:solidFill>
              </a:rPr>
              <a:t>30%+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D642495-CC8E-4E7E-84A3-90C7F0ED7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38650"/>
            <a:ext cx="2781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11827"/>
                </a:solidFill>
              </a:defRPr>
            </a:pPr>
            <a:r>
              <a:rPr sz="1350" b="0">
                <a:solidFill>
                  <a:srgbClr val="111827"/>
                </a:solidFill>
              </a:rPr>
              <a:t>문서 작성시간 절감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F94DBC8-9F22-4CB8-8DF2-CE10B39B9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3714750"/>
            <a:ext cx="323850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9FAFB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D1D145B-32BB-4882-BD2E-919C8900B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7700" y="394335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2457C5"/>
                </a:solidFill>
              </a:defRPr>
            </a:pPr>
            <a:r>
              <a:rPr sz="2550" b="1">
                <a:solidFill>
                  <a:srgbClr val="2457C5"/>
                </a:solidFill>
              </a:rPr>
              <a:t>2건+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32035CC-070D-4A2A-A005-3882E6C5B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4438650"/>
            <a:ext cx="2781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11827"/>
                </a:solidFill>
              </a:defRPr>
            </a:pPr>
            <a:r>
              <a:rPr sz="1350" b="0">
                <a:solidFill>
                  <a:srgbClr val="111827"/>
                </a:solidFill>
              </a:rPr>
              <a:t>부서별 표준 템플릿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1B29AA6-DB33-40DE-B8BB-ED6553A6E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3714750"/>
            <a:ext cx="3238500" cy="12573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F9FAFB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463A143-26A9-4959-9704-FD0406157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9100" y="394335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2457C5"/>
                </a:solidFill>
              </a:defRPr>
            </a:pPr>
            <a:r>
              <a:rPr sz="2550" b="1">
                <a:solidFill>
                  <a:srgbClr val="2457C5"/>
                </a:solidFill>
              </a:rPr>
              <a:t>4.5+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1ED89A9-DFBB-4404-9BB8-5F55DB6E0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438650"/>
            <a:ext cx="2781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111827"/>
                </a:solidFill>
              </a:defRPr>
            </a:pPr>
            <a:r>
              <a:rPr sz="1350" b="0">
                <a:solidFill>
                  <a:srgbClr val="111827"/>
                </a:solidFill>
              </a:rPr>
              <a:t>교육 만족도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61D1A25-0F2E-4453-A603-38FA7CD6F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B5563"/>
                </a:solidFill>
              </a:defRPr>
            </a:pPr>
            <a:r>
              <a:rPr sz="900" b="0">
                <a:solidFill>
                  <a:srgbClr val="4B5563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006233682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09A7CF3-378D-4FD2-AED9-9C4E8A890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7429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11827"/>
                </a:solidFill>
              </a:defRPr>
            </a:pPr>
            <a:r>
              <a:rPr sz="2325" b="1">
                <a:solidFill>
                  <a:srgbClr val="111827"/>
                </a:solidFill>
              </a:rPr>
              <a:t>우선 추진안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73C837-DB0C-4D10-A52E-9C294C4C8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8001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457C5"/>
                </a:solidFill>
              </a:defRPr>
            </a:pPr>
            <a:r>
              <a:rPr sz="1350" b="1">
                <a:solidFill>
                  <a:srgbClr val="2457C5"/>
                </a:solidFill>
              </a:rPr>
              <a:t>시범부서 중심으로 시작해 성과 검증 후 확산합니다.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F6CE4EB-8B87-4855-9FD7-500E47C8C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71650"/>
            <a:ext cx="10820400" cy="9525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43DC5E-CB65-4627-9B72-F88FC0CAC2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4857750" cy="371475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3F4F6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2AC72A5-0F5A-4138-BE6B-DE93BEDED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324100"/>
            <a:ext cx="4286250" cy="304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• 1차 대상: 연구개발, 생산품질, 영업마케팅</a:t>
            </a:r>
          </a:p>
          <a:p xmlns:a="http://schemas.openxmlformats.org/drawingml/2006/main">
            <a:pPr algn="l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• 1차 인원: 15명~24명 내외</a:t>
            </a:r>
          </a:p>
          <a:p xmlns:a="http://schemas.openxmlformats.org/drawingml/2006/main">
            <a:pPr algn="l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• 운영기간: 총 5~6개월</a:t>
            </a:r>
          </a:p>
          <a:p xmlns:a="http://schemas.openxmlformats.org/drawingml/2006/main">
            <a:pPr algn="l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• 운영방식: 집체교육 + 팀 프로젝트 + 현장코칭</a:t>
            </a:r>
          </a:p>
          <a:p xmlns:a="http://schemas.openxmlformats.org/drawingml/2006/main">
            <a:pPr algn="l">
              <a:defRPr sz="1575" b="0">
                <a:solidFill>
                  <a:srgbClr val="111827"/>
                </a:solidFill>
              </a:defRPr>
            </a:pPr>
            <a:r>
              <a:rPr sz="1575" b="0">
                <a:solidFill>
                  <a:srgbClr val="111827"/>
                </a:solidFill>
              </a:rPr>
              <a:t>• 종료 후 우수사례 표준화 및 2차 확산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504B389-9A4A-4312-8F44-3AD4001F2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667000"/>
            <a:ext cx="971550" cy="12382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DCE8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22F329-4092-4B40-82EA-1C73FB09D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933700"/>
            <a:ext cx="7810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시범부서 선정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52DCA36-CD51-4E80-818A-DE09D2ED5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143250"/>
            <a:ext cx="114300" cy="2286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D1D5DB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3DE2BB7-C1F2-4413-BDE3-6B4535D9B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667000"/>
            <a:ext cx="971550" cy="12382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EF2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204C615-866F-4F52-914A-ADF78B565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933700"/>
            <a:ext cx="7810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훈련 운영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B068FE1-5B37-4813-9428-6DB3AA333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143250"/>
            <a:ext cx="114300" cy="2286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D1D5DB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73F2B8A-C342-4EBC-A3FB-C19D15228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667000"/>
            <a:ext cx="971550" cy="12382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DCE8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6DF19D1-9090-4E34-83D3-AB2015611F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2933700"/>
            <a:ext cx="7810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성과 검증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3707D26-EC98-44D7-9C13-5DF464DA5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143250"/>
            <a:ext cx="114300" cy="2286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D1D5DB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6F4D0A5-5F63-49C8-B927-FA89084A4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2667000"/>
            <a:ext cx="971550" cy="12382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EEF2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C040F28-92FF-4EB0-9585-6DF5D9112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2933700"/>
            <a:ext cx="7810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표준화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639A6DD-687E-4EC6-98EA-84C42FC29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53700" y="3143250"/>
            <a:ext cx="114300" cy="2286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D1D5DB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AE4954D-03AA-4E8B-B096-FF3231427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2667000"/>
            <a:ext cx="971550" cy="1238250"/>
          </a:xfrm>
          <a:prstGeom xmlns:a="http://schemas.openxmlformats.org/drawingml/2006/main" prst="roundRect">
            <a:avLst>
              <a:gd name="adj" fmla="val 11765"/>
            </a:avLst>
          </a:prstGeom>
          <a:solidFill xmlns:a="http://schemas.openxmlformats.org/drawingml/2006/main">
            <a:srgbClr val="DCE8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11BA597-1F12-49E8-8B2C-20E12AAF7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2933700"/>
            <a:ext cx="7810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11827"/>
                </a:solidFill>
              </a:defRPr>
            </a:pPr>
            <a:r>
              <a:rPr sz="1350" b="1">
                <a:solidFill>
                  <a:srgbClr val="111827"/>
                </a:solidFill>
              </a:rPr>
              <a:t>확산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FC84CDE-8883-4189-B401-91837FD6E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B5563"/>
                </a:solidFill>
              </a:defRPr>
            </a:pPr>
            <a:r>
              <a:rPr sz="900" b="0">
                <a:solidFill>
                  <a:srgbClr val="4B5563"/>
                </a:solidFill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45339137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2EB8871-907B-4193-B80A-618C1C5B3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7429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111827"/>
                </a:solidFill>
              </a:defRPr>
            </a:pPr>
            <a:r>
              <a:rPr sz="2325" b="1">
                <a:solidFill>
                  <a:srgbClr val="111827"/>
                </a:solidFill>
              </a:rPr>
              <a:t>결론 및 요청사항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18FD55-BA22-47EF-9CD3-077FD0E35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8001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457C5"/>
                </a:solidFill>
              </a:defRPr>
            </a:pPr>
            <a:r>
              <a:rPr sz="1350" b="1">
                <a:solidFill>
                  <a:srgbClr val="2457C5"/>
                </a:solidFill>
              </a:rPr>
              <a:t>LKsamyang형 AI 훈련은 현업 과제 중심의 SOJT-PBL 방식이 효과적입니다.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426A3F-CB92-40FF-8123-83A0DE1BE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71650"/>
            <a:ext cx="10820400" cy="9525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7DAA14-50F6-4E33-8F1B-8B69A8444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38350"/>
            <a:ext cx="10820400" cy="1143000"/>
          </a:xfrm>
          <a:prstGeom xmlns:a="http://schemas.openxmlformats.org/drawingml/2006/main" prst="roundRect">
            <a:avLst>
              <a:gd name="adj" fmla="val 10000"/>
            </a:avLst>
          </a:prstGeom>
          <a:solidFill xmlns:a="http://schemas.openxmlformats.org/drawingml/2006/main">
            <a:srgbClr val="DCE8FF"/>
          </a:solidFill>
          <a:ln xmlns:a="http://schemas.openxmlformats.org/drawingml/2006/main" w="9525">
            <a:solidFill>
              <a:srgbClr val="D1D5D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91C8E9-0AAC-407A-8E08-10C5D3333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419350"/>
            <a:ext cx="99822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11827"/>
                </a:solidFill>
              </a:defRPr>
            </a:pPr>
            <a:r>
              <a:rPr sz="2100" b="1">
                <a:solidFill>
                  <a:srgbClr val="111827"/>
                </a:solidFill>
              </a:rPr>
              <a:t>LKsamyang형 AI 훈련은 현업 과제 중심의 SOJT-PBL 방식이 효과적입니다.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FC266F6-62DB-4316-AF7A-F519AFE6C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714750"/>
            <a:ext cx="9906000" cy="1333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11827"/>
                </a:solidFill>
              </a:defRPr>
            </a:pPr>
            <a:r>
              <a:rPr sz="1800" b="0">
                <a:solidFill>
                  <a:srgbClr val="111827"/>
                </a:solidFill>
              </a:rPr>
              <a:t>• AI 훈련은 디지털 전환의 출발점이 될 수 있습니다.</a:t>
            </a:r>
          </a:p>
          <a:p xmlns:a="http://schemas.openxmlformats.org/drawingml/2006/main">
            <a:pPr algn="l">
              <a:defRPr sz="1800" b="0">
                <a:solidFill>
                  <a:srgbClr val="111827"/>
                </a:solidFill>
              </a:defRPr>
            </a:pPr>
            <a:r>
              <a:rPr sz="1800" b="0">
                <a:solidFill>
                  <a:srgbClr val="111827"/>
                </a:solidFill>
              </a:rPr>
              <a:t>• 실무 적용 중심 설계 시 단기 성과와 조직 내재화가 가능합니다.</a:t>
            </a:r>
          </a:p>
          <a:p xmlns:a="http://schemas.openxmlformats.org/drawingml/2006/main">
            <a:pPr algn="l">
              <a:defRPr sz="1800" b="0">
                <a:solidFill>
                  <a:srgbClr val="111827"/>
                </a:solidFill>
              </a:defRPr>
            </a:pPr>
            <a:r>
              <a:rPr sz="1800" b="0">
                <a:solidFill>
                  <a:srgbClr val="111827"/>
                </a:solidFill>
              </a:rPr>
              <a:t>• 시범운영 승인 및 부서별 과제 발굴 협조가 필요합니다.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5882AB-54C5-4ECD-9419-EE1607236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619750"/>
            <a:ext cx="876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457C5"/>
                </a:solidFill>
              </a:defRPr>
            </a:pPr>
            <a:r>
              <a:rPr sz="1500" b="1">
                <a:solidFill>
                  <a:srgbClr val="2457C5"/>
                </a:solidFill>
              </a:rPr>
              <a:t>교육이 아닌 실질적 업무혁신 성과로 연결되는 AI 훈련체계를 구축하고자 합니다.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7BC6889-1195-4164-9677-169108532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477000"/>
            <a:ext cx="381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B5563"/>
                </a:solidFill>
              </a:defRPr>
            </a:pPr>
            <a:r>
              <a:rPr sz="900" b="0">
                <a:solidFill>
                  <a:srgbClr val="4B5563"/>
                </a:solidFill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201376734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2026-08-20T13:53:12.8470000Z</dcterms:created>
  <dcterms:modified xsi:type="dcterms:W3CDTF">2026-08-20T13:53:12.8470000Z</dcterms:modified>
</coreProperties>
</file>